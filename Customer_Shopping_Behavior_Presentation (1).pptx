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68</c:v>
                </c:pt>
                <c:pt idx="1">
                  <c:v>32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B3F4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Orders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44.5</c:v>
                </c:pt>
                <c:pt idx="1">
                  <c:v>31.8</c:v>
                </c:pt>
                <c:pt idx="2">
                  <c:v>15.4</c:v>
                </c:pt>
                <c:pt idx="3">
                  <c:v>8.3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7E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3E7E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7E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7E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7E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3E7E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 (&gt;10 orders)</c:v>
                </c:pt>
                <c:pt idx="1">
                  <c:v>Returning (2-10)</c:v>
                </c:pt>
                <c:pt idx="2">
                  <c:v>New (1 order)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B3F4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7E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3E7E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90008" y="3703320"/>
            <a:ext cx="201168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88620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3,900 transactions into revenue, retention &amp; discount 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525780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•   SQL   •   POWER BI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6172200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Customer Records  |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418320" y="1856232"/>
            <a:ext cx="1673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DF0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/home/claude/pptx_project/icon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10769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938528"/>
            <a:ext cx="7708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Methodology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44168" y="2258568"/>
            <a:ext cx="7708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analysis moved from raw data to a live dashboard.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418320" y="2697480"/>
            <a:ext cx="1673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DF0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548640" y="2807208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1" descr="/home/claude/pptx_project/icons/datas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94894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44168" y="2779776"/>
            <a:ext cx="7708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Analysis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44168" y="3099816"/>
            <a:ext cx="7708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transactions, cleaned and profiled in Python.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9418320" y="3538728"/>
            <a:ext cx="1673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DF0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Shape 11"/>
          <p:cNvSpPr/>
          <p:nvPr/>
        </p:nvSpPr>
        <p:spPr>
          <a:xfrm>
            <a:off x="548640" y="364845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6" name="Image 2" descr="/home/claude/pptx_project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79018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44168" y="3621024"/>
            <a:ext cx="7708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10 Business Questions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44168" y="3941064"/>
            <a:ext cx="7708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discounts, loyalty, products, and demographics.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9418320" y="4379976"/>
            <a:ext cx="1673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DF0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20" name="Shape 15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1" name="Image 3" descr="/home/claude/pptx_project/icons/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631436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44168" y="4462272"/>
            <a:ext cx="7708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344168" y="4782312"/>
            <a:ext cx="7708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view for ongoing monitoring.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418320" y="5221224"/>
            <a:ext cx="1673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DF0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25" name="Shape 19"/>
          <p:cNvSpPr/>
          <p:nvPr/>
        </p:nvSpPr>
        <p:spPr>
          <a:xfrm>
            <a:off x="548640" y="5330952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6" name="Image 4" descr="/home/claude/pptx_project/icons/recomme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472684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44168" y="5303520"/>
            <a:ext cx="7708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344168" y="5623560"/>
            <a:ext cx="7708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concrete next steps for the business.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Decisions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retail transactions were cleaned and explored in Python, mined with ten targeted SQL queries, and consolidated into a live Power BI dashboard for ongoing monitoring.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709928" y="2834640"/>
            <a:ext cx="1371600" cy="13716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/home/claude/pptx_project/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828" y="317754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4370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Explore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24128" y="4736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Pandas &amp; NumPy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08676" y="2834640"/>
            <a:ext cx="1371600" cy="13716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0" name="Image 1" descr="/home/claude/pptx_project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6" y="317754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22876" y="4370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722876" y="4736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9107424" y="2834640"/>
            <a:ext cx="1371600" cy="13716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4" name="Image 2" descr="/home/claude/pptx_project/icons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0324" y="3177540"/>
            <a:ext cx="685800" cy="685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21624" y="4370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Monitor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421624" y="4736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3218688" y="3200400"/>
            <a:ext cx="20528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917436" y="3200400"/>
            <a:ext cx="20528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fed the next — EDA shaped the SQL questions; SQL results populate the dashboard.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14057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95728"/>
            <a:ext cx="1831177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310128"/>
            <a:ext cx="183117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18729" y="2103120"/>
            <a:ext cx="2014057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10169" y="2395728"/>
            <a:ext cx="1831177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910169" y="3310128"/>
            <a:ext cx="183117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88819" y="2103120"/>
            <a:ext cx="2014057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80259" y="2395728"/>
            <a:ext cx="1831177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80259" y="3310128"/>
            <a:ext cx="183117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58908" y="2103120"/>
            <a:ext cx="2014057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50348" y="2395728"/>
            <a:ext cx="1831177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50348" y="3310128"/>
            <a:ext cx="183117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28998" y="2103120"/>
            <a:ext cx="2014057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20438" y="2395728"/>
            <a:ext cx="1831177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720438" y="3310128"/>
            <a:ext cx="183117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Rating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customer_shopping_behavior.csv — demographics, item purchased, transaction value, and shopping behavior flags (discounts, subscriptions, shipping, review ratings).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Review Rating has missing values — 37 records (0.9%) — safely ignored by SQL's AVG().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Shopping, What They Buy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Gender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9224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Category (%)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492240" y="19659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and Accessories alone account for more than three-quarters of all orders (76.3%).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Q1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Concentration by Category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1554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0" y="1965960"/>
            <a:ext cx="204825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06640" y="2214677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$157,890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406640" y="2991917"/>
            <a:ext cx="186537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(68% of customers)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473184" y="1965960"/>
            <a:ext cx="204825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564624" y="2214677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$75,191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564624" y="2991917"/>
            <a:ext cx="186537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(32% of customers)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0" y="36576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value: $59.54 (Male) vs. $60.25 (Female)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mirrors customer share — gender has almost no effect on individual spend.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Q2 &amp; Q6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Discounting: Broad Reach, Uneven Payoff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928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80720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orders used a discount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90448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481888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discount users still spent above average ($79.79 avg.)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06240" y="15544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Most-Discounted Products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206240" y="1965960"/>
          <a:ext cx="7406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aren't limited to price-sensitive shoppers — half were already big spenders.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Q3 &amp; Q8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Performance: Ratings &amp; Bestsellers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Rated Products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7F8F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196596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3.86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060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3.84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7F8F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461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324612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3.82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862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38862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3.80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7F8F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262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45262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3.79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Seller in Each Category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196596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20840" y="20299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20840" y="22402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66960" y="19659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2916936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20840" y="29809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20840" y="31912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966960" y="2916936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386791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20840" y="3931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20840" y="414223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966960" y="386791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orders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92240" y="481888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20840" y="48828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50932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966960" y="481888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orders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order counts are both tightly clustered — demand and satisfaction are broad, not concentrated in one hit product.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Q4, Q5 &amp; Q9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&amp; Subscription Behavior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815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92070"/>
            <a:ext cx="23987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 vs $58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580790"/>
            <a:ext cx="23987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order: Express vs. Standard shipping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6252" y="2011680"/>
            <a:ext cx="25815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7692" y="2392070"/>
            <a:ext cx="23987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$59.49 vs $59.87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7692" y="3580790"/>
            <a:ext cx="23987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spend: Subscribers vs. non-subscribers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23864" y="2011680"/>
            <a:ext cx="25815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5304" y="2392070"/>
            <a:ext cx="23987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15304" y="3580790"/>
            <a:ext cx="23987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hold an active subscription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61475" y="2011680"/>
            <a:ext cx="25815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52915" y="2392070"/>
            <a:ext cx="23987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 vs 88%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52915" y="3580790"/>
            <a:ext cx="23987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Repeat-buyer rate: subscribers vs. non-subscribers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gaps are large — shipping speed, subscription, and loyalty barely move average spend.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Q7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Segments: New, Returning &amp; Loyal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554480"/>
            <a:ext cx="443484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0" y="1725656"/>
            <a:ext cx="4251960" cy="5349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79.9%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0" y="2260580"/>
            <a:ext cx="4251960" cy="3209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are already Loyal (10+ previous purchases)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223760" y="2798064"/>
            <a:ext cx="443484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0" y="2969240"/>
            <a:ext cx="4251960" cy="5349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315200" y="3504164"/>
            <a:ext cx="4251960" cy="3209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are New (just 1 previous purchase)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23760" y="4041648"/>
            <a:ext cx="443484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0" y="4212824"/>
            <a:ext cx="4251960" cy="5349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18.0%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315200" y="4747748"/>
            <a:ext cx="4251960" cy="3209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are Returning (2-10 previous purchases)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strong and acquisition is thin — the funnel depends on a small trickle of new customers.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Q10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Contribution by Age Group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94415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tracks how many customers are in each age band, not how much any one of them spends.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Behavior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category &amp; age-group breakdowns, and live slicers for subscription, gender, category, and shipping type.</a:t>
            </a:r>
            <a:endParaRPr lang="en-US" sz="1250" dirty="0"/>
          </a:p>
        </p:txBody>
      </p:sp>
      <p:pic>
        <p:nvPicPr>
          <p:cNvPr id="5" name="Image 0" descr="/home/claude/pptx_project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1572768"/>
            <a:ext cx="8412480" cy="473390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Ways to Act on These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356360"/>
          </a:xfrm>
          <a:prstGeom prst="roundRect">
            <a:avLst>
              <a:gd name="adj" fmla="val 4719"/>
            </a:avLst>
          </a:prstGeom>
          <a:solidFill>
            <a:srgbClr val="F7F8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9491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/home/claude/pptx_project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213664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28216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acquisition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2057400"/>
            <a:ext cx="435848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2% of customers are new — the loyalty engine already works once they arrive.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8728" y="1600200"/>
            <a:ext cx="5364328" cy="1356360"/>
          </a:xfrm>
          <a:prstGeom prst="roundRect">
            <a:avLst>
              <a:gd name="adj" fmla="val 4719"/>
            </a:avLst>
          </a:prstGeom>
          <a:solidFill>
            <a:srgbClr val="F7F8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8184" y="199491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1" descr="/home/claude/pptx_project/icons/g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916" y="213664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47408" y="1728216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Re-think subscription perks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47408" y="2057400"/>
            <a:ext cx="435848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don't spend more per order — add spend-based incentives, not just access.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76600"/>
            <a:ext cx="5364328" cy="1356360"/>
          </a:xfrm>
          <a:prstGeom prst="roundRect">
            <a:avLst>
              <a:gd name="adj" fmla="val 4719"/>
            </a:avLst>
          </a:prstGeom>
          <a:solidFill>
            <a:srgbClr val="F7F8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8096" y="367131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6" name="Image 2" descr="/home/claude/pptx_project/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381304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404616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discounts more precisely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17320" y="3733800"/>
            <a:ext cx="435848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discount users were already big spenders — reserve discounts for new or lapsing customers.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8728" y="3276600"/>
            <a:ext cx="5364328" cy="1356360"/>
          </a:xfrm>
          <a:prstGeom prst="roundRect">
            <a:avLst>
              <a:gd name="adj" fmla="val 4719"/>
            </a:avLst>
          </a:prstGeom>
          <a:solidFill>
            <a:srgbClr val="F7F8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8184" y="367131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1" name="Image 3" descr="/home/claude/pptx_project/icons/t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916" y="381304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47408" y="3404616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margins on key items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47408" y="3733800"/>
            <a:ext cx="435848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Hats, Sneakers, and Coats are discounted on nearly half of all orders.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953000"/>
            <a:ext cx="5364328" cy="1356360"/>
          </a:xfrm>
          <a:prstGeom prst="roundRect">
            <a:avLst>
              <a:gd name="adj" fmla="val 4719"/>
            </a:avLst>
          </a:prstGeom>
          <a:solidFill>
            <a:srgbClr val="F7F8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68096" y="534771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6" name="Image 4" descr="/home/claude/pptx_project/icons/shoppingb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548944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081016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Clothing &amp; Accessories central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417320" y="5410200"/>
            <a:ext cx="435848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lead both order volume and revenue.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78728" y="4953000"/>
            <a:ext cx="5364328" cy="1356360"/>
          </a:xfrm>
          <a:prstGeom prst="roundRect">
            <a:avLst>
              <a:gd name="adj" fmla="val 4719"/>
            </a:avLst>
          </a:prstGeom>
          <a:solidFill>
            <a:srgbClr val="F7F8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8184" y="534771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31" name="Image 5" descr="/home/claude/pptx_project/icons/calend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9916" y="548944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47408" y="5081016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dashboard on a cadence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147408" y="5410200"/>
            <a:ext cx="435848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revenue, discount rate, and segment mix as new data arrives.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090008" y="3611880"/>
            <a:ext cx="201168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79476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•  Python · SQL · Power BI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2026-08-21T11:18:07Z</dcterms:created>
  <dcterms:modified xsi:type="dcterms:W3CDTF">2026-08-21T11:18:07Z</dcterms:modified>
</cp:coreProperties>
</file>